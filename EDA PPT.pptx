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4"/>
  </p:sldMasterIdLst>
  <p:notesMasterIdLst>
    <p:notesMasterId r:id="rId19"/>
  </p:notesMasterIdLst>
  <p:handoutMasterIdLst>
    <p:handoutMasterId r:id="rId20"/>
  </p:handoutMasterIdLst>
  <p:sldIdLst>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25F7AC-484E-4314-AAC9-0AEDB67EDEB6}" v="2015" dt="2026-01-29T20:29:13.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10" autoAdjust="0"/>
    <p:restoredTop sz="94628"/>
  </p:normalViewPr>
  <p:slideViewPr>
    <p:cSldViewPr snapToGrid="0">
      <p:cViewPr>
        <p:scale>
          <a:sx n="100" d="100"/>
          <a:sy n="100" d="100"/>
        </p:scale>
        <p:origin x="-1512" y="-821"/>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1/29/2026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dirty="0"/>
              <a:t>Click to edit Master subtitle style</a:t>
            </a:r>
          </a:p>
        </p:txBody>
      </p:sp>
    </p:spTree>
    <p:extLst>
      <p:ext uri="{BB962C8B-B14F-4D97-AF65-F5344CB8AC3E}">
        <p14:creationId xmlns:p14="http://schemas.microsoft.com/office/powerpoint/2010/main" val="93857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746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7588863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7910985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747729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59772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055004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454834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43596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743663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dirty="0"/>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9683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24535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dirty="0"/>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r>
              <a:rPr lang="en-US"/>
              <a:t>Presentation title</a:t>
            </a:r>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dirty="0"/>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550141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7712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dirty="0"/>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71439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67531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514677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07697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249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4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78864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23631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23286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dirty="0"/>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3162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dirty="0"/>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56995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962720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77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0478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9627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1398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500434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189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05788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83207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2145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dirty="0"/>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dirty="0"/>
              <a:t>##%</a:t>
            </a:r>
          </a:p>
        </p:txBody>
      </p:sp>
    </p:spTree>
    <p:extLst>
      <p:ext uri="{BB962C8B-B14F-4D97-AF65-F5344CB8AC3E}">
        <p14:creationId xmlns:p14="http://schemas.microsoft.com/office/powerpoint/2010/main" val="162670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dirty="0"/>
              <a:t>##%</a:t>
            </a:r>
          </a:p>
        </p:txBody>
      </p:sp>
    </p:spTree>
    <p:extLst>
      <p:ext uri="{BB962C8B-B14F-4D97-AF65-F5344CB8AC3E}">
        <p14:creationId xmlns:p14="http://schemas.microsoft.com/office/powerpoint/2010/main" val="31429174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300386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687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90131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4168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9104863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548248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dirty="0"/>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9709600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124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82965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538392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9788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206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32774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8593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59206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r>
              <a:rPr lang="en-US"/>
              <a:t>Presentation title</a:t>
            </a:r>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9491445"/>
      </p:ext>
    </p:extLst>
  </p:cSld>
  <p:clrMap bg1="dk1" tx1="lt1" bg2="dk2" tx2="lt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 id="2147484044" r:id="rId33"/>
    <p:sldLayoutId id="2147484045" r:id="rId34"/>
    <p:sldLayoutId id="2147484046" r:id="rId35"/>
    <p:sldLayoutId id="2147484047" r:id="rId36"/>
    <p:sldLayoutId id="2147484048" r:id="rId37"/>
    <p:sldLayoutId id="2147484049" r:id="rId38"/>
    <p:sldLayoutId id="2147484050" r:id="rId39"/>
    <p:sldLayoutId id="2147484051" r:id="rId40"/>
    <p:sldLayoutId id="2147484052" r:id="rId41"/>
    <p:sldLayoutId id="2147484053" r:id="rId42"/>
    <p:sldLayoutId id="2147484054" r:id="rId43"/>
    <p:sldLayoutId id="2147484055" r:id="rId44"/>
    <p:sldLayoutId id="2147484056" r:id="rId45"/>
    <p:sldLayoutId id="2147484057" r:id="rId46"/>
    <p:sldLayoutId id="2147484058" r:id="rId47"/>
    <p:sldLayoutId id="2147484059" r:id="rId48"/>
    <p:sldLayoutId id="2147484060" r:id="rId49"/>
    <p:sldLayoutId id="2147484061" r:id="rId50"/>
    <p:sldLayoutId id="2147484062" r:id="rId51"/>
    <p:sldLayoutId id="2147484063" r:id="rId52"/>
  </p:sldLayoutIdLst>
  <p:hf sldNum="0" hd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6248400" y="2819400"/>
            <a:ext cx="5029200" cy="1295400"/>
          </a:xfrm>
        </p:spPr>
        <p:txBody>
          <a:bodyPr>
            <a:normAutofit fontScale="90000"/>
          </a:bodyPr>
          <a:lstStyle/>
          <a:p>
            <a:r>
              <a:rPr lang="en-US">
                <a:ea typeface="+mj-lt"/>
                <a:cs typeface="+mj-lt"/>
              </a:rPr>
              <a:t>Exploratory Data Analysis (EDA) for Real Estate Pricing: Unveiling the Dynamics of House Valuation in a Dynamic Market</a:t>
            </a:r>
            <a:endParaRPr lang="en-US"/>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6248400" y="4270248"/>
            <a:ext cx="5029200" cy="685800"/>
          </a:xfrm>
        </p:spPr>
        <p:txBody>
          <a:bodyPr>
            <a:normAutofit/>
          </a:bodyPr>
          <a:lstStyle/>
          <a:p>
            <a:r>
              <a:rPr lang="en-US"/>
              <a:t>NEXTHIKE IT SOLUTION</a:t>
            </a:r>
          </a:p>
          <a:p>
            <a:endParaRPr lang="en-US"/>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EF71-73C8-B0C3-0DA2-EF4253FC1021}"/>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CCBE201F-BA88-6EE8-9B78-EE3B0B7DFC3F}"/>
              </a:ext>
            </a:extLst>
          </p:cNvPr>
          <p:cNvSpPr>
            <a:spLocks noGrp="1"/>
          </p:cNvSpPr>
          <p:nvPr>
            <p:ph idx="1"/>
          </p:nvPr>
        </p:nvSpPr>
        <p:spPr/>
        <p:txBody>
          <a:bodyPr vert="horz" lIns="91440" tIns="45720" rIns="91440" bIns="45720" rtlCol="0" anchor="t">
            <a:normAutofit/>
          </a:bodyPr>
          <a:lstStyle/>
          <a:p>
            <a:pPr marL="0" indent="0">
              <a:buNone/>
            </a:pPr>
            <a:r>
              <a:rPr lang="en-US" sz="1800" dirty="0"/>
              <a:t>EXPLORATORY DATA ANALYSIS IS A KEY STEP IN DATA ANALYSIS WHERE WE INVESTIGATE DATASETS TO UNCOVER PATTERNS,ANOMALIES AND INSIGHTS BEFORE MODELING.</a:t>
            </a:r>
          </a:p>
          <a:p>
            <a:pPr marL="0" indent="0">
              <a:buNone/>
            </a:pPr>
            <a:r>
              <a:rPr lang="en-US" sz="1800" dirty="0"/>
              <a:t>IT IS THE FOUNDATION FOR PROJECTS LIKE ANALYZING SALES TRENDS,CUSTOMER CHURN,OR COVID DATA USING TOOLS LIKE PYTHON ALONG WITH PANDAS,NUMPY,MATPLOTLIB ETC.</a:t>
            </a:r>
          </a:p>
          <a:p>
            <a:pPr marL="0" indent="0">
              <a:buNone/>
            </a:pPr>
            <a:r>
              <a:rPr lang="en-US" sz="1800" dirty="0"/>
              <a:t>WE HAVE GIVEN A HOUSING PRICE DATA UPON WHICH THE ANALYSIS HAVE BEEN DONE.</a:t>
            </a:r>
          </a:p>
        </p:txBody>
      </p:sp>
      <p:sp>
        <p:nvSpPr>
          <p:cNvPr id="4" name="Footer Placeholder 3">
            <a:extLst>
              <a:ext uri="{FF2B5EF4-FFF2-40B4-BE49-F238E27FC236}">
                <a16:creationId xmlns:a16="http://schemas.microsoft.com/office/drawing/2014/main" id="{78FAF81A-5CB2-3AAF-6DC9-006111752070}"/>
              </a:ext>
            </a:extLst>
          </p:cNvPr>
          <p:cNvSpPr>
            <a:spLocks noGrp="1"/>
          </p:cNvSpPr>
          <p:nvPr>
            <p:ph type="ftr" sz="quarter" idx="11"/>
          </p:nvPr>
        </p:nvSpPr>
        <p:spPr/>
        <p:txBody>
          <a:bodyPr/>
          <a:lstStyle/>
          <a:p>
            <a:r>
              <a:rPr lang="en-US"/>
              <a:t>Presentation title</a:t>
            </a:r>
            <a:endParaRPr lang="en-US" dirty="0"/>
          </a:p>
        </p:txBody>
      </p:sp>
      <p:pic>
        <p:nvPicPr>
          <p:cNvPr id="5" name="Picture 4" descr="A screenshot of a computer&#10;&#10;AI-generated content may be incorrect.">
            <a:extLst>
              <a:ext uri="{FF2B5EF4-FFF2-40B4-BE49-F238E27FC236}">
                <a16:creationId xmlns:a16="http://schemas.microsoft.com/office/drawing/2014/main" id="{E60A89B7-189E-A92C-9258-D24318C6F12A}"/>
              </a:ext>
            </a:extLst>
          </p:cNvPr>
          <p:cNvPicPr>
            <a:picLocks noChangeAspect="1"/>
          </p:cNvPicPr>
          <p:nvPr/>
        </p:nvPicPr>
        <p:blipFill>
          <a:blip r:embed="rId2"/>
          <a:srcRect l="-346" t="21097" r="12781" b="2110"/>
          <a:stretch>
            <a:fillRect/>
          </a:stretch>
        </p:blipFill>
        <p:spPr>
          <a:xfrm>
            <a:off x="692617" y="3997889"/>
            <a:ext cx="9889567" cy="2716431"/>
          </a:xfrm>
          <a:prstGeom prst="rect">
            <a:avLst/>
          </a:prstGeom>
        </p:spPr>
      </p:pic>
    </p:spTree>
    <p:extLst>
      <p:ext uri="{BB962C8B-B14F-4D97-AF65-F5344CB8AC3E}">
        <p14:creationId xmlns:p14="http://schemas.microsoft.com/office/powerpoint/2010/main" val="678582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70DA-D736-AA52-CA53-A85BC1ED7AAF}"/>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D13D3E45-F092-8C67-8B37-6D821EFB2859}"/>
              </a:ext>
            </a:extLst>
          </p:cNvPr>
          <p:cNvSpPr>
            <a:spLocks noGrp="1"/>
          </p:cNvSpPr>
          <p:nvPr>
            <p:ph idx="1"/>
          </p:nvPr>
        </p:nvSpPr>
        <p:spPr/>
        <p:txBody>
          <a:bodyPr vert="horz" lIns="91440" tIns="45720" rIns="91440" bIns="45720" rtlCol="0" anchor="t">
            <a:normAutofit/>
          </a:bodyPr>
          <a:lstStyle/>
          <a:p>
            <a:r>
              <a:rPr lang="en-US" sz="2000" dirty="0">
                <a:ea typeface="+mn-lt"/>
                <a:cs typeface="+mn-lt"/>
              </a:rPr>
              <a:t>The real estate industry is inherently complex, influenced by numerous factors that collectively impact the pricing of residential properties. The task at hand is to navigate through this complexity and extract meaningful insights from the available data. As an analytics professional, you are entrusted with the responsibility to not only identify the key variables affecting house prices but also to provide actionable recommendations based on your findings. </a:t>
            </a:r>
          </a:p>
          <a:p>
            <a:r>
              <a:rPr lang="en-US" sz="2000" dirty="0">
                <a:ea typeface="+mn-lt"/>
                <a:cs typeface="+mn-lt"/>
              </a:rPr>
              <a:t>The dataset at our disposal comprises diverse parameters such as location, size, amenities, market trends, economic indicators, and historical transaction data. These variables contribute to the intricate web of pricing dynamics, and our role is to unravel their interdependencies through meticulous analysis. </a:t>
            </a:r>
            <a:endParaRPr lang="en-US" sz="2000" dirty="0"/>
          </a:p>
        </p:txBody>
      </p:sp>
      <p:sp>
        <p:nvSpPr>
          <p:cNvPr id="4" name="Footer Placeholder 3">
            <a:extLst>
              <a:ext uri="{FF2B5EF4-FFF2-40B4-BE49-F238E27FC236}">
                <a16:creationId xmlns:a16="http://schemas.microsoft.com/office/drawing/2014/main" id="{94EB9D16-EFF5-28F8-2D23-405811B59C81}"/>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322497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2314-3974-556B-8454-F9E408A07081}"/>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CF1689C4-BCC0-6B80-CB0D-1B60E3C3748F}"/>
              </a:ext>
            </a:extLst>
          </p:cNvPr>
          <p:cNvSpPr>
            <a:spLocks noGrp="1"/>
          </p:cNvSpPr>
          <p:nvPr>
            <p:ph idx="1"/>
          </p:nvPr>
        </p:nvSpPr>
        <p:spPr/>
        <p:txBody>
          <a:bodyPr vert="horz" lIns="91440" tIns="45720" rIns="91440" bIns="45720" rtlCol="0" anchor="t">
            <a:normAutofit/>
          </a:bodyPr>
          <a:lstStyle/>
          <a:p>
            <a:r>
              <a:rPr lang="en-US" sz="2000" dirty="0"/>
              <a:t>I HAVE DONE THE UNDERLYING PROCESSES ON THE GIVEN DATASET</a:t>
            </a:r>
          </a:p>
          <a:p>
            <a:r>
              <a:rPr lang="en-US" sz="2000" dirty="0"/>
              <a:t>STEP 1: LOADING THE DATA SET </a:t>
            </a:r>
          </a:p>
          <a:p>
            <a:r>
              <a:rPr lang="en-US" sz="2000" dirty="0"/>
              <a:t>STEP 2: LOADING THE LIBRARIES SUCH AS PANDAS,SEABORN,MATPLOTLIB ON JUPYTER</a:t>
            </a:r>
          </a:p>
        </p:txBody>
      </p:sp>
      <p:sp>
        <p:nvSpPr>
          <p:cNvPr id="4" name="Footer Placeholder 3">
            <a:extLst>
              <a:ext uri="{FF2B5EF4-FFF2-40B4-BE49-F238E27FC236}">
                <a16:creationId xmlns:a16="http://schemas.microsoft.com/office/drawing/2014/main" id="{267975F6-B949-C02F-EF97-D537F33A8E27}"/>
              </a:ext>
            </a:extLst>
          </p:cNvPr>
          <p:cNvSpPr>
            <a:spLocks noGrp="1"/>
          </p:cNvSpPr>
          <p:nvPr>
            <p:ph type="ftr" sz="quarter" idx="11"/>
          </p:nvPr>
        </p:nvSpPr>
        <p:spPr/>
        <p:txBody>
          <a:bodyPr/>
          <a:lstStyle/>
          <a:p>
            <a:r>
              <a:rPr lang="en-US"/>
              <a:t>Presentation title</a:t>
            </a:r>
            <a:endParaRPr lang="en-US" dirty="0"/>
          </a:p>
        </p:txBody>
      </p:sp>
      <p:pic>
        <p:nvPicPr>
          <p:cNvPr id="5" name="Picture 4" descr="A screenshot of a computer&#10;&#10;AI-generated content may be incorrect.">
            <a:extLst>
              <a:ext uri="{FF2B5EF4-FFF2-40B4-BE49-F238E27FC236}">
                <a16:creationId xmlns:a16="http://schemas.microsoft.com/office/drawing/2014/main" id="{9EA3F170-FAE1-054B-7E39-3621C4F76DA2}"/>
              </a:ext>
            </a:extLst>
          </p:cNvPr>
          <p:cNvPicPr>
            <a:picLocks noChangeAspect="1"/>
          </p:cNvPicPr>
          <p:nvPr/>
        </p:nvPicPr>
        <p:blipFill>
          <a:blip r:embed="rId2"/>
          <a:srcRect l="21963" t="10052" b="258"/>
          <a:stretch>
            <a:fillRect/>
          </a:stretch>
        </p:blipFill>
        <p:spPr>
          <a:xfrm>
            <a:off x="4896970" y="3428999"/>
            <a:ext cx="5614149" cy="3093984"/>
          </a:xfrm>
          <a:prstGeom prst="rect">
            <a:avLst/>
          </a:prstGeom>
        </p:spPr>
      </p:pic>
    </p:spTree>
    <p:extLst>
      <p:ext uri="{BB962C8B-B14F-4D97-AF65-F5344CB8AC3E}">
        <p14:creationId xmlns:p14="http://schemas.microsoft.com/office/powerpoint/2010/main" val="1668321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D7DF-6FEA-FC00-2F28-299ADFA72992}"/>
              </a:ext>
            </a:extLst>
          </p:cNvPr>
          <p:cNvSpPr>
            <a:spLocks noGrp="1"/>
          </p:cNvSpPr>
          <p:nvPr>
            <p:ph type="title"/>
          </p:nvPr>
        </p:nvSpPr>
        <p:spPr>
          <a:xfrm>
            <a:off x="320284" y="291521"/>
            <a:ext cx="3442652" cy="739436"/>
          </a:xfrm>
        </p:spPr>
        <p:txBody>
          <a:bodyPr>
            <a:normAutofit/>
          </a:bodyPr>
          <a:lstStyle/>
          <a:p>
            <a:r>
              <a:rPr lang="en-US" dirty="0"/>
              <a:t>PROCESS</a:t>
            </a:r>
          </a:p>
        </p:txBody>
      </p:sp>
      <p:pic>
        <p:nvPicPr>
          <p:cNvPr id="5" name="Content Placeholder 4" descr="A screenshot of a computer&#10;&#10;AI-generated content may be incorrect.">
            <a:extLst>
              <a:ext uri="{FF2B5EF4-FFF2-40B4-BE49-F238E27FC236}">
                <a16:creationId xmlns:a16="http://schemas.microsoft.com/office/drawing/2014/main" id="{70A83ADC-2D97-0C8F-9037-943CB7E45730}"/>
              </a:ext>
            </a:extLst>
          </p:cNvPr>
          <p:cNvPicPr>
            <a:picLocks noGrp="1" noChangeAspect="1"/>
          </p:cNvPicPr>
          <p:nvPr>
            <p:ph idx="1"/>
          </p:nvPr>
        </p:nvPicPr>
        <p:blipFill>
          <a:blip r:embed="rId2"/>
          <a:srcRect l="21731" t="15643" r="-230"/>
          <a:stretch>
            <a:fillRect/>
          </a:stretch>
        </p:blipFill>
        <p:spPr>
          <a:xfrm>
            <a:off x="680094" y="1171551"/>
            <a:ext cx="10298573" cy="5178602"/>
          </a:xfrm>
          <a:prstGeom prst="rect">
            <a:avLst/>
          </a:prstGeom>
        </p:spPr>
      </p:pic>
      <p:sp>
        <p:nvSpPr>
          <p:cNvPr id="4" name="Footer Placeholder 3">
            <a:extLst>
              <a:ext uri="{FF2B5EF4-FFF2-40B4-BE49-F238E27FC236}">
                <a16:creationId xmlns:a16="http://schemas.microsoft.com/office/drawing/2014/main" id="{A63228DE-B199-72F2-84A3-C29D286EF6DE}"/>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235958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37AEA-F42E-FB26-2DD4-A7A179726E10}"/>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A46D8002-69F0-A466-5564-C5BFC4D614FF}"/>
              </a:ext>
            </a:extLst>
          </p:cNvPr>
          <p:cNvSpPr>
            <a:spLocks noGrp="1"/>
          </p:cNvSpPr>
          <p:nvPr>
            <p:ph idx="1"/>
          </p:nvPr>
        </p:nvSpPr>
        <p:spPr/>
        <p:txBody>
          <a:bodyPr vert="horz" lIns="91440" tIns="45720" rIns="91440" bIns="45720" rtlCol="0" anchor="t">
            <a:normAutofit/>
          </a:bodyPr>
          <a:lstStyle/>
          <a:p>
            <a:r>
              <a:rPr lang="en-US" sz="2000" dirty="0"/>
              <a:t>STEP 3: THEN I HAVE CHECKED IF THRE IS ANY DUPLICATE OR MISSING VALUES</a:t>
            </a:r>
          </a:p>
          <a:p>
            <a:r>
              <a:rPr lang="en-US" sz="2000" dirty="0"/>
              <a:t>THERE WAS NO DUPLICATES</a:t>
            </a:r>
          </a:p>
          <a:p>
            <a:pPr marL="0" indent="0">
              <a:buNone/>
            </a:pPr>
            <a:r>
              <a:rPr lang="en-US" sz="2000" dirty="0"/>
              <a:t>   BUT THERE WAS SOME MISSING VALUES AT -</a:t>
            </a:r>
          </a:p>
          <a:p>
            <a:pPr marL="0" indent="0">
              <a:buNone/>
            </a:pPr>
            <a:r>
              <a:rPr lang="en-US" sz="2000" dirty="0"/>
              <a:t>      1.ALLEY 1369,</a:t>
            </a:r>
          </a:p>
          <a:p>
            <a:pPr marL="0" indent="0">
              <a:buNone/>
            </a:pPr>
            <a:r>
              <a:rPr lang="en-US" sz="2000" dirty="0"/>
              <a:t>     2.MASVNRTYPE872,</a:t>
            </a:r>
          </a:p>
          <a:p>
            <a:pPr marL="0" indent="0">
              <a:buNone/>
            </a:pPr>
            <a:r>
              <a:rPr lang="en-US" sz="2000" dirty="0"/>
              <a:t>     3. ELECTRICAL 1,</a:t>
            </a:r>
          </a:p>
          <a:p>
            <a:pPr marL="0" indent="0">
              <a:buNone/>
            </a:pPr>
            <a:r>
              <a:rPr lang="en-US" sz="2000" dirty="0"/>
              <a:t>      4.GARAGEYRBLT 89,</a:t>
            </a:r>
          </a:p>
          <a:p>
            <a:endParaRPr lang="en-US" sz="2000" dirty="0"/>
          </a:p>
        </p:txBody>
      </p:sp>
      <p:sp>
        <p:nvSpPr>
          <p:cNvPr id="4" name="Footer Placeholder 3">
            <a:extLst>
              <a:ext uri="{FF2B5EF4-FFF2-40B4-BE49-F238E27FC236}">
                <a16:creationId xmlns:a16="http://schemas.microsoft.com/office/drawing/2014/main" id="{E499D4A7-2005-4492-700E-E355D11CF3EB}"/>
              </a:ext>
            </a:extLst>
          </p:cNvPr>
          <p:cNvSpPr>
            <a:spLocks noGrp="1"/>
          </p:cNvSpPr>
          <p:nvPr>
            <p:ph type="ftr" sz="quarter" idx="11"/>
          </p:nvPr>
        </p:nvSpPr>
        <p:spPr/>
        <p:txBody>
          <a:bodyPr/>
          <a:lstStyle/>
          <a:p>
            <a:r>
              <a:rPr lang="en-US"/>
              <a:t>Presentation title</a:t>
            </a:r>
            <a:endParaRPr lang="en-US" dirty="0"/>
          </a:p>
        </p:txBody>
      </p:sp>
      <p:sp>
        <p:nvSpPr>
          <p:cNvPr id="7" name="Star: 5 Points 6">
            <a:extLst>
              <a:ext uri="{FF2B5EF4-FFF2-40B4-BE49-F238E27FC236}">
                <a16:creationId xmlns:a16="http://schemas.microsoft.com/office/drawing/2014/main" id="{DE93EFCB-94C6-432C-5ACE-0CAA7027D150}"/>
              </a:ext>
            </a:extLst>
          </p:cNvPr>
          <p:cNvSpPr/>
          <p:nvPr/>
        </p:nvSpPr>
        <p:spPr>
          <a:xfrm>
            <a:off x="677352" y="2342712"/>
            <a:ext cx="224014" cy="29401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BA9F27AA-086C-E06D-6005-6107C36BEADF}"/>
              </a:ext>
            </a:extLst>
          </p:cNvPr>
          <p:cNvSpPr/>
          <p:nvPr/>
        </p:nvSpPr>
        <p:spPr>
          <a:xfrm>
            <a:off x="672541" y="2825868"/>
            <a:ext cx="225471" cy="29853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1322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D5627-22F9-C72B-D782-764615B1D4D1}"/>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40067C1A-7C68-97A7-40B9-CCADC7813321}"/>
              </a:ext>
            </a:extLst>
          </p:cNvPr>
          <p:cNvSpPr>
            <a:spLocks noGrp="1"/>
          </p:cNvSpPr>
          <p:nvPr>
            <p:ph idx="1"/>
          </p:nvPr>
        </p:nvSpPr>
        <p:spPr>
          <a:xfrm>
            <a:off x="678872" y="1337716"/>
            <a:ext cx="10816123" cy="4825341"/>
          </a:xfrm>
        </p:spPr>
        <p:txBody>
          <a:bodyPr vert="horz" lIns="91440" tIns="45720" rIns="91440" bIns="45720" rtlCol="0" anchor="t">
            <a:normAutofit/>
          </a:bodyPr>
          <a:lstStyle/>
          <a:p>
            <a:r>
              <a:rPr lang="en-US" sz="2000" dirty="0"/>
              <a:t>AFTER THOSE INITIAL PROCESSES I HAVE DONE "UNIVARIATE AND MULTIVARIATE ANALYSIS WHICH HELPS US REALIZE </a:t>
            </a:r>
            <a:r>
              <a:rPr lang="en-US" sz="2000" dirty="0">
                <a:ea typeface="+mn-lt"/>
                <a:cs typeface="+mn-lt"/>
              </a:rPr>
              <a:t>TO UNDERSTAND THE DISTRIBUTION OF KEY VARIABLES LIKE HOUSE PRICES. UTILIZE HISTOGRAMS, KERNEL DENSITY PLOTS, OR OTHER VISUALIZATIONS TO GAIN INSIGHTS INTO THE DATA </a:t>
            </a:r>
            <a:endParaRPr lang="en-US" sz="2000" dirty="0"/>
          </a:p>
        </p:txBody>
      </p:sp>
      <p:sp>
        <p:nvSpPr>
          <p:cNvPr id="4" name="Footer Placeholder 3">
            <a:extLst>
              <a:ext uri="{FF2B5EF4-FFF2-40B4-BE49-F238E27FC236}">
                <a16:creationId xmlns:a16="http://schemas.microsoft.com/office/drawing/2014/main" id="{6C4237C5-8BF7-2CF9-559C-AF8838F3D799}"/>
              </a:ext>
            </a:extLst>
          </p:cNvPr>
          <p:cNvSpPr>
            <a:spLocks noGrp="1"/>
          </p:cNvSpPr>
          <p:nvPr>
            <p:ph type="ftr" sz="quarter" idx="11"/>
          </p:nvPr>
        </p:nvSpPr>
        <p:spPr/>
        <p:txBody>
          <a:bodyPr/>
          <a:lstStyle/>
          <a:p>
            <a:r>
              <a:rPr lang="en-US"/>
              <a:t>Presentation title</a:t>
            </a:r>
            <a:endParaRPr lang="en-US" dirty="0"/>
          </a:p>
        </p:txBody>
      </p:sp>
      <p:pic>
        <p:nvPicPr>
          <p:cNvPr id="5" name="Picture 4" descr="A screenshot of a computer&#10;&#10;AI-generated content may be incorrect.">
            <a:extLst>
              <a:ext uri="{FF2B5EF4-FFF2-40B4-BE49-F238E27FC236}">
                <a16:creationId xmlns:a16="http://schemas.microsoft.com/office/drawing/2014/main" id="{827B4EC5-62E2-D126-6054-A7AD3861A67F}"/>
              </a:ext>
            </a:extLst>
          </p:cNvPr>
          <p:cNvPicPr>
            <a:picLocks noChangeAspect="1"/>
          </p:cNvPicPr>
          <p:nvPr/>
        </p:nvPicPr>
        <p:blipFill>
          <a:blip r:embed="rId2"/>
          <a:srcRect l="23839" t="9598" r="5144" b="6674"/>
          <a:stretch>
            <a:fillRect/>
          </a:stretch>
        </p:blipFill>
        <p:spPr>
          <a:xfrm>
            <a:off x="470647" y="2857499"/>
            <a:ext cx="5098688" cy="348621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93677A40-F338-CDCF-EEDB-8A6D7D51870B}"/>
              </a:ext>
            </a:extLst>
          </p:cNvPr>
          <p:cNvPicPr>
            <a:picLocks noChangeAspect="1"/>
          </p:cNvPicPr>
          <p:nvPr/>
        </p:nvPicPr>
        <p:blipFill>
          <a:blip r:embed="rId3"/>
          <a:srcRect l="22319" t="8840" r="4261" b="5166"/>
          <a:stretch>
            <a:fillRect/>
          </a:stretch>
        </p:blipFill>
        <p:spPr>
          <a:xfrm>
            <a:off x="6420212" y="2857499"/>
            <a:ext cx="5082056" cy="3482533"/>
          </a:xfrm>
          <a:prstGeom prst="rect">
            <a:avLst/>
          </a:prstGeom>
          <a:ln>
            <a:solidFill>
              <a:srgbClr val="4472C4"/>
            </a:solidFill>
          </a:ln>
        </p:spPr>
      </p:pic>
    </p:spTree>
    <p:extLst>
      <p:ext uri="{BB962C8B-B14F-4D97-AF65-F5344CB8AC3E}">
        <p14:creationId xmlns:p14="http://schemas.microsoft.com/office/powerpoint/2010/main" val="1031816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329F2-40EA-E769-8A72-96981B1C75E3}"/>
              </a:ext>
            </a:extLst>
          </p:cNvPr>
          <p:cNvSpPr>
            <a:spLocks noGrp="1"/>
          </p:cNvSpPr>
          <p:nvPr>
            <p:ph type="title"/>
          </p:nvPr>
        </p:nvSpPr>
        <p:spPr/>
        <p:txBody>
          <a:bodyPr/>
          <a:lstStyle/>
          <a:p>
            <a:r>
              <a:rPr lang="en-US" dirty="0"/>
              <a:t>UTILIZATION OF THE PROCESS</a:t>
            </a:r>
          </a:p>
        </p:txBody>
      </p:sp>
      <p:sp>
        <p:nvSpPr>
          <p:cNvPr id="3" name="Content Placeholder 2">
            <a:extLst>
              <a:ext uri="{FF2B5EF4-FFF2-40B4-BE49-F238E27FC236}">
                <a16:creationId xmlns:a16="http://schemas.microsoft.com/office/drawing/2014/main" id="{639168F9-D165-3203-3D56-C00CF06AEEE7}"/>
              </a:ext>
            </a:extLst>
          </p:cNvPr>
          <p:cNvSpPr>
            <a:spLocks noGrp="1"/>
          </p:cNvSpPr>
          <p:nvPr>
            <p:ph idx="1"/>
          </p:nvPr>
        </p:nvSpPr>
        <p:spPr/>
        <p:txBody>
          <a:bodyPr vert="horz" lIns="91440" tIns="45720" rIns="91440" bIns="45720" rtlCol="0" anchor="t">
            <a:normAutofit/>
          </a:bodyPr>
          <a:lstStyle/>
          <a:p>
            <a:r>
              <a:rPr lang="en-US" sz="2800" dirty="0">
                <a:ea typeface="+mn-lt"/>
                <a:cs typeface="+mn-lt"/>
              </a:rPr>
              <a:t>I HAVE INVESTIGATE RELATIONSHIPS BETWEEN MULTIPLE VARIABLES, ESPECIALLY THOSE IMPACTING HOUSE PRICES. I PERFORM MULTIVARIATE ANALYSIS TO UNDERSTAND THE CORRELATIONS AND DEPENDENCIES BETWEEN VARIOUS FEATURES. </a:t>
            </a:r>
            <a:endParaRPr lang="en-US" sz="2800" dirty="0"/>
          </a:p>
        </p:txBody>
      </p:sp>
      <p:sp>
        <p:nvSpPr>
          <p:cNvPr id="4" name="Footer Placeholder 3">
            <a:extLst>
              <a:ext uri="{FF2B5EF4-FFF2-40B4-BE49-F238E27FC236}">
                <a16:creationId xmlns:a16="http://schemas.microsoft.com/office/drawing/2014/main" id="{8C7BD5FC-DFD4-F974-2780-8B6E6425A4A3}"/>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12834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ECB24-C4B9-4232-92CC-62EBA0281537}"/>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9B3E73E2-7918-1E68-3A30-0C8FA512CCFC}"/>
              </a:ext>
            </a:extLst>
          </p:cNvPr>
          <p:cNvSpPr>
            <a:spLocks noGrp="1"/>
          </p:cNvSpPr>
          <p:nvPr>
            <p:ph idx="1"/>
          </p:nvPr>
        </p:nvSpPr>
        <p:spPr/>
        <p:txBody>
          <a:bodyPr vert="horz" lIns="91440" tIns="45720" rIns="91440" bIns="45720" rtlCol="0" anchor="t">
            <a:normAutofit/>
          </a:bodyPr>
          <a:lstStyle/>
          <a:p>
            <a:r>
              <a:rPr lang="en-US" sz="2000" dirty="0"/>
              <a:t>THEN I PERFORMED SOME OF THE STATISTICAL TEST ON SALEPRICE ON THE BASIS OF OVERALL QUALITY AND FOUND THAT </a:t>
            </a:r>
            <a:r>
              <a:rPr lang="en-US" sz="2400" i="1" dirty="0"/>
              <a:t>SALEPRICE IS DIFFERENT FOR DIFFERENT OVERALL QUALITY</a:t>
            </a:r>
          </a:p>
          <a:p>
            <a:r>
              <a:rPr lang="en-US" sz="2000" dirty="0"/>
              <a:t>AFTER THAT  THE MISSING VALUE TREATMENT HAS BEEN DONE ON THE DATASET,THE MISSING VALUES I HAVE MENTIONED EARLIER</a:t>
            </a:r>
          </a:p>
          <a:p>
            <a:r>
              <a:rPr lang="en-US" sz="2000" dirty="0"/>
              <a:t>NEXT STEP IS OUTLIER TREATMENT</a:t>
            </a:r>
          </a:p>
        </p:txBody>
      </p:sp>
      <p:sp>
        <p:nvSpPr>
          <p:cNvPr id="4" name="Footer Placeholder 3">
            <a:extLst>
              <a:ext uri="{FF2B5EF4-FFF2-40B4-BE49-F238E27FC236}">
                <a16:creationId xmlns:a16="http://schemas.microsoft.com/office/drawing/2014/main" id="{8F611B0E-49A6-9B0B-B690-8BE33C4A416A}"/>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400356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F0E1-1AEC-55DC-ADD1-3FEA0F20C8BB}"/>
              </a:ext>
            </a:extLst>
          </p:cNvPr>
          <p:cNvSpPr>
            <a:spLocks noGrp="1"/>
          </p:cNvSpPr>
          <p:nvPr>
            <p:ph type="title"/>
          </p:nvPr>
        </p:nvSpPr>
        <p:spPr/>
        <p:txBody>
          <a:bodyPr/>
          <a:lstStyle/>
          <a:p>
            <a:r>
              <a:rPr lang="en-US" dirty="0"/>
              <a:t>PROCESS</a:t>
            </a:r>
          </a:p>
        </p:txBody>
      </p:sp>
      <p:pic>
        <p:nvPicPr>
          <p:cNvPr id="5" name="Content Placeholder 4" descr="A screenshot of a computer&#10;&#10;AI-generated content may be incorrect.">
            <a:extLst>
              <a:ext uri="{FF2B5EF4-FFF2-40B4-BE49-F238E27FC236}">
                <a16:creationId xmlns:a16="http://schemas.microsoft.com/office/drawing/2014/main" id="{E7B3D24B-340E-B681-98F2-6B88D67A501A}"/>
              </a:ext>
            </a:extLst>
          </p:cNvPr>
          <p:cNvPicPr>
            <a:picLocks noGrp="1" noChangeAspect="1"/>
          </p:cNvPicPr>
          <p:nvPr>
            <p:ph idx="1"/>
          </p:nvPr>
        </p:nvPicPr>
        <p:blipFill>
          <a:blip r:embed="rId2"/>
          <a:srcRect l="24265" t="9191" r="2574" b="7353"/>
          <a:stretch>
            <a:fillRect/>
          </a:stretch>
        </p:blipFill>
        <p:spPr>
          <a:xfrm>
            <a:off x="198242" y="231740"/>
            <a:ext cx="5065056" cy="3081623"/>
          </a:xfrm>
          <a:prstGeom prst="rect">
            <a:avLst/>
          </a:prstGeom>
          <a:ln>
            <a:solidFill>
              <a:srgbClr val="4472C4"/>
            </a:solidFill>
          </a:ln>
        </p:spPr>
      </p:pic>
      <p:sp>
        <p:nvSpPr>
          <p:cNvPr id="4" name="Footer Placeholder 3">
            <a:extLst>
              <a:ext uri="{FF2B5EF4-FFF2-40B4-BE49-F238E27FC236}">
                <a16:creationId xmlns:a16="http://schemas.microsoft.com/office/drawing/2014/main" id="{5488A427-4360-9E84-52CC-8C6D7F68D139}"/>
              </a:ext>
            </a:extLst>
          </p:cNvPr>
          <p:cNvSpPr>
            <a:spLocks noGrp="1"/>
          </p:cNvSpPr>
          <p:nvPr>
            <p:ph type="ftr" sz="quarter" idx="11"/>
          </p:nvPr>
        </p:nvSpPr>
        <p:spPr/>
        <p:txBody>
          <a:bodyPr/>
          <a:lstStyle/>
          <a:p>
            <a:r>
              <a:rPr lang="en-US"/>
              <a:t>Presentation title</a:t>
            </a:r>
            <a:endParaRPr lang="en-US" dirty="0"/>
          </a:p>
        </p:txBody>
      </p:sp>
      <p:pic>
        <p:nvPicPr>
          <p:cNvPr id="6" name="Picture 5" descr="A screenshot of a computer&#10;&#10;AI-generated content may be incorrect.">
            <a:extLst>
              <a:ext uri="{FF2B5EF4-FFF2-40B4-BE49-F238E27FC236}">
                <a16:creationId xmlns:a16="http://schemas.microsoft.com/office/drawing/2014/main" id="{E338D206-B674-9E89-41FB-CF00D7BDAF89}"/>
              </a:ext>
            </a:extLst>
          </p:cNvPr>
          <p:cNvPicPr>
            <a:picLocks noChangeAspect="1"/>
          </p:cNvPicPr>
          <p:nvPr/>
        </p:nvPicPr>
        <p:blipFill>
          <a:blip r:embed="rId3"/>
          <a:srcRect l="23875" t="10426" r="173" b="7180"/>
          <a:stretch>
            <a:fillRect/>
          </a:stretch>
        </p:blipFill>
        <p:spPr>
          <a:xfrm>
            <a:off x="5558117" y="448234"/>
            <a:ext cx="6446081" cy="608343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52ED5AF-AA06-5BEA-D7CC-CCA007C1C2A1}"/>
              </a:ext>
            </a:extLst>
          </p:cNvPr>
          <p:cNvPicPr>
            <a:picLocks noChangeAspect="1"/>
          </p:cNvPicPr>
          <p:nvPr/>
        </p:nvPicPr>
        <p:blipFill>
          <a:blip r:embed="rId4"/>
          <a:srcRect l="22106" t="9966" b="5016"/>
          <a:stretch>
            <a:fillRect/>
          </a:stretch>
        </p:blipFill>
        <p:spPr>
          <a:xfrm>
            <a:off x="197956" y="3563471"/>
            <a:ext cx="5068810" cy="3153362"/>
          </a:xfrm>
          <a:prstGeom prst="rect">
            <a:avLst/>
          </a:prstGeom>
        </p:spPr>
      </p:pic>
    </p:spTree>
    <p:extLst>
      <p:ext uri="{BB962C8B-B14F-4D97-AF65-F5344CB8AC3E}">
        <p14:creationId xmlns:p14="http://schemas.microsoft.com/office/powerpoint/2010/main" val="2925350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9D12A-3390-66C3-3A21-05D8525B06EB}"/>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AFEC3362-1018-0C11-D888-20225D1A6213}"/>
              </a:ext>
            </a:extLst>
          </p:cNvPr>
          <p:cNvSpPr>
            <a:spLocks noGrp="1"/>
          </p:cNvSpPr>
          <p:nvPr>
            <p:ph idx="1"/>
          </p:nvPr>
        </p:nvSpPr>
        <p:spPr/>
        <p:txBody>
          <a:bodyPr vert="horz" lIns="91440" tIns="45720" rIns="91440" bIns="45720" rtlCol="0" anchor="t">
            <a:normAutofit/>
          </a:bodyPr>
          <a:lstStyle/>
          <a:p>
            <a:r>
              <a:rPr lang="en-US" sz="2400" dirty="0"/>
              <a:t>FINALLY OUR DATASET IS READY FOR FEATURE SELECTION AND PERFORMING FEATURE ENGINEERING</a:t>
            </a:r>
          </a:p>
          <a:p>
            <a:r>
              <a:rPr lang="en-US" sz="2400" dirty="0"/>
              <a:t>THEN MACHINE LEARNING MODELS APPLIED ON DATASET</a:t>
            </a:r>
          </a:p>
          <a:p>
            <a:r>
              <a:rPr lang="en-US" sz="2400" dirty="0"/>
              <a:t>TRAIN TEST SPLIT AND LINEAR REGRESSION MODEL ALSO BEEN APPLIED </a:t>
            </a:r>
          </a:p>
          <a:p>
            <a:r>
              <a:rPr lang="en-US" sz="2400" dirty="0"/>
              <a:t>FINALLY WE GOT A MODEL THAT CAN PREDICT THE VALUE OF A HOUSING PROPERTY AND THE MODEL PERFORMS WELL WITH THE DATA.</a:t>
            </a:r>
          </a:p>
        </p:txBody>
      </p:sp>
      <p:sp>
        <p:nvSpPr>
          <p:cNvPr id="4" name="Footer Placeholder 3">
            <a:extLst>
              <a:ext uri="{FF2B5EF4-FFF2-40B4-BE49-F238E27FC236}">
                <a16:creationId xmlns:a16="http://schemas.microsoft.com/office/drawing/2014/main" id="{FFBF27DB-CBB1-3AF2-A28B-B6C4F9F2D35B}"/>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258576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3BA85-2FEC-7C2E-2437-6BE69BD25B16}"/>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1FA7F1F2-0A64-2FC8-821B-27269E0D826A}"/>
              </a:ext>
            </a:extLst>
          </p:cNvPr>
          <p:cNvSpPr>
            <a:spLocks noGrp="1"/>
          </p:cNvSpPr>
          <p:nvPr>
            <p:ph idx="1"/>
          </p:nvPr>
        </p:nvSpPr>
        <p:spPr/>
        <p:txBody>
          <a:bodyPr vert="horz" lIns="91440" tIns="45720" rIns="91440" bIns="45720" rtlCol="0" anchor="t">
            <a:normAutofit/>
          </a:bodyPr>
          <a:lstStyle/>
          <a:p>
            <a:r>
              <a:rPr lang="en-US" sz="2000" dirty="0">
                <a:ea typeface="+mn-lt"/>
                <a:cs typeface="+mn-lt"/>
              </a:rPr>
              <a:t>ANALYZING THE DATASET TEMPORALLY, LOOKING AT TRENDS IN HOUSE PRICES OVER DIFFERENT PERIODS,UNDERSTANDING HOW EXTERNAL FACTORS, SUCH AS ECONOMIC INDICATORS, MAY HAVE INFLUENCED THESE TRENDS I HAVE MADE A TABLE HOW THE AVAILABLE AMENITIES AFFECT THE MARKET TREND AND THE SALEPRICE. AMENITIES SUCH AS ,</a:t>
            </a:r>
          </a:p>
          <a:p>
            <a:r>
              <a:rPr lang="en-US" sz="2000" dirty="0"/>
              <a:t>POOL AREA,</a:t>
            </a:r>
          </a:p>
          <a:p>
            <a:r>
              <a:rPr lang="en-US" sz="2000" dirty="0"/>
              <a:t>GARAGE AREA,</a:t>
            </a:r>
          </a:p>
          <a:p>
            <a:r>
              <a:rPr lang="en-US" sz="2000" dirty="0"/>
              <a:t>OVERALL CONDITION,</a:t>
            </a:r>
          </a:p>
          <a:p>
            <a:r>
              <a:rPr lang="en-US" sz="2000" dirty="0"/>
              <a:t>YEAR BUILT, DIRECTLY AFFECT THE SALE PRICE AND CUSTOMER PREFERENCE.</a:t>
            </a:r>
          </a:p>
        </p:txBody>
      </p:sp>
      <p:sp>
        <p:nvSpPr>
          <p:cNvPr id="4" name="Footer Placeholder 3">
            <a:extLst>
              <a:ext uri="{FF2B5EF4-FFF2-40B4-BE49-F238E27FC236}">
                <a16:creationId xmlns:a16="http://schemas.microsoft.com/office/drawing/2014/main" id="{2A812E6D-D063-528C-723B-34D9EBA2A2C4}"/>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1896982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7D5D-92C8-78AC-F192-6FA863406A6E}"/>
              </a:ext>
            </a:extLst>
          </p:cNvPr>
          <p:cNvSpPr>
            <a:spLocks noGrp="1"/>
          </p:cNvSpPr>
          <p:nvPr>
            <p:ph type="title"/>
          </p:nvPr>
        </p:nvSpPr>
        <p:spPr/>
        <p:txBody>
          <a:bodyPr/>
          <a:lstStyle/>
          <a:p>
            <a:r>
              <a:rPr lang="en-US" dirty="0"/>
              <a:t>CONCLUSION</a:t>
            </a:r>
          </a:p>
        </p:txBody>
      </p:sp>
      <p:pic>
        <p:nvPicPr>
          <p:cNvPr id="5" name="Content Placeholder 4" descr="A screenshot of a computer&#10;&#10;AI-generated content may be incorrect.">
            <a:extLst>
              <a:ext uri="{FF2B5EF4-FFF2-40B4-BE49-F238E27FC236}">
                <a16:creationId xmlns:a16="http://schemas.microsoft.com/office/drawing/2014/main" id="{587DC1E9-0D05-175C-0AFB-0DEA4ABA8DBD}"/>
              </a:ext>
            </a:extLst>
          </p:cNvPr>
          <p:cNvPicPr>
            <a:picLocks noGrp="1" noChangeAspect="1"/>
          </p:cNvPicPr>
          <p:nvPr>
            <p:ph idx="1"/>
          </p:nvPr>
        </p:nvPicPr>
        <p:blipFill>
          <a:blip r:embed="rId2"/>
          <a:srcRect l="26176" t="59039" r="55475" b="19115"/>
          <a:stretch>
            <a:fillRect/>
          </a:stretch>
        </p:blipFill>
        <p:spPr>
          <a:xfrm>
            <a:off x="552351" y="1679851"/>
            <a:ext cx="6170946" cy="3436344"/>
          </a:xfrm>
          <a:prstGeom prst="rect">
            <a:avLst/>
          </a:prstGeom>
        </p:spPr>
      </p:pic>
      <p:sp>
        <p:nvSpPr>
          <p:cNvPr id="4" name="Footer Placeholder 3">
            <a:extLst>
              <a:ext uri="{FF2B5EF4-FFF2-40B4-BE49-F238E27FC236}">
                <a16:creationId xmlns:a16="http://schemas.microsoft.com/office/drawing/2014/main" id="{6B937781-E1D2-6EF7-A8FB-380AF1CAD6CA}"/>
              </a:ext>
            </a:extLst>
          </p:cNvPr>
          <p:cNvSpPr>
            <a:spLocks noGrp="1"/>
          </p:cNvSpPr>
          <p:nvPr>
            <p:ph type="ftr" sz="quarter" idx="11"/>
          </p:nvPr>
        </p:nvSpPr>
        <p:spPr>
          <a:xfrm>
            <a:off x="678871" y="4830394"/>
            <a:ext cx="10703646" cy="1878686"/>
          </a:xfrm>
        </p:spPr>
        <p:txBody>
          <a:bodyPr/>
          <a:lstStyle/>
          <a:p>
            <a:r>
              <a:rPr lang="en-US" sz="2000" dirty="0"/>
              <a:t>THIS IS HOW THE IMPACT IS ON PRICE DUE TO AMENITIES .</a:t>
            </a:r>
            <a:r>
              <a:rPr lang="en-US" sz="2000" dirty="0">
                <a:ea typeface="+mn-lt"/>
                <a:cs typeface="+mn-lt"/>
              </a:rPr>
              <a:t>THESE FEATURES COLLECTIVELY CONTRIBUTE TO THE VALUATION. </a:t>
            </a:r>
            <a:endParaRPr lang="en-US" sz="2000" dirty="0"/>
          </a:p>
        </p:txBody>
      </p:sp>
    </p:spTree>
    <p:extLst>
      <p:ext uri="{BB962C8B-B14F-4D97-AF65-F5344CB8AC3E}">
        <p14:creationId xmlns:p14="http://schemas.microsoft.com/office/powerpoint/2010/main" val="36419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8C8E-AACB-DCC7-B4CD-E10785909E76}"/>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0A815BA4-3B6E-D8C9-F6D1-F3F1B81BC6CB}"/>
              </a:ext>
            </a:extLst>
          </p:cNvPr>
          <p:cNvSpPr>
            <a:spLocks noGrp="1"/>
          </p:cNvSpPr>
          <p:nvPr>
            <p:ph idx="1"/>
          </p:nvPr>
        </p:nvSpPr>
        <p:spPr/>
        <p:txBody>
          <a:bodyPr vert="horz" lIns="91440" tIns="45720" rIns="91440" bIns="45720" rtlCol="0" anchor="t">
            <a:normAutofit/>
          </a:bodyPr>
          <a:lstStyle/>
          <a:p>
            <a:r>
              <a:rPr lang="en-US" dirty="0"/>
              <a:t>END OF PPT</a:t>
            </a:r>
          </a:p>
        </p:txBody>
      </p:sp>
      <p:sp>
        <p:nvSpPr>
          <p:cNvPr id="4" name="Footer Placeholder 3">
            <a:extLst>
              <a:ext uri="{FF2B5EF4-FFF2-40B4-BE49-F238E27FC236}">
                <a16:creationId xmlns:a16="http://schemas.microsoft.com/office/drawing/2014/main" id="{B2DD2B30-C77C-A874-A509-72D6B843420D}"/>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3737160133"/>
      </p:ext>
    </p:extLst>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99ED26-B189-4BA1-99D0-1112D8C2F106}">
  <ds:schemaRefs>
    <ds:schemaRef ds:uri="http://purl.org/dc/terms/"/>
    <ds:schemaRef ds:uri="http://schemas.microsoft.com/office/2006/metadata/properties"/>
    <ds:schemaRef ds:uri="http://purl.org/dc/dcmitype/"/>
    <ds:schemaRef ds:uri="http://schemas.microsoft.com/office/2006/documentManagement/types"/>
    <ds:schemaRef ds:uri="230e9df3-be65-4c73-a93b-d1236ebd677e"/>
    <ds:schemaRef ds:uri="http://purl.org/dc/elements/1.1/"/>
    <ds:schemaRef ds:uri="http://schemas.microsoft.com/office/infopath/2007/PartnerControls"/>
    <ds:schemaRef ds:uri="http://www.w3.org/XML/1998/namespace"/>
    <ds:schemaRef ds:uri="http://schemas.openxmlformats.org/package/2006/metadata/core-properties"/>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5</Words>
  <Application>Microsoft Office PowerPoint</Application>
  <PresentationFormat>Widescreen</PresentationFormat>
  <Paragraphs>3</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Northern lights</vt:lpstr>
      <vt:lpstr>Exploratory Data Analysis (EDA) for Real Estate Pricing: Unveiling the Dynamics of House Valuation in a Dynamic Market</vt:lpstr>
      <vt:lpstr>EXPLORATORY DATA ANALYSIS</vt:lpstr>
      <vt:lpstr>PROJECT OVERVIEW</vt:lpstr>
      <vt:lpstr>PROCESS</vt:lpstr>
      <vt:lpstr>PROCESS</vt:lpstr>
      <vt:lpstr>PROCESS</vt:lpstr>
      <vt:lpstr>PROCESS</vt:lpstr>
      <vt:lpstr>UTILIZATION OF THE PROCESS</vt:lpstr>
      <vt:lpstr>PROCESS</vt:lpstr>
      <vt:lpstr>PROCESS</vt:lpstr>
      <vt:lpstr>PROCESS</vt:lpstr>
      <vt:lpstr>CONCLUSION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429</cp:revision>
  <dcterms:created xsi:type="dcterms:W3CDTF">2026-01-29T18:51:06Z</dcterms:created>
  <dcterms:modified xsi:type="dcterms:W3CDTF">2026-01-29T20:30:48Z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